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italic.fntdata"/><Relationship Id="rId6" Type="http://schemas.openxmlformats.org/officeDocument/2006/relationships/slide" Target="slides/slide1.xml"/><Relationship Id="rId18"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986347c09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986347c09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986347c09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986347c09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986347c09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986347c09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986347c09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986347c09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986347c092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986347c092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986347c092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986347c092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986347c092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986347c092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986347c092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986347c092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986347c092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986347c092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986347c092_3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986347c092_3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w3schools.com/java/java_strings.asp" TargetMode="External"/><Relationship Id="rId4" Type="http://schemas.openxmlformats.org/officeDocument/2006/relationships/hyperlink" Target="https://www.w3schools.com/java/java_arrays.asp" TargetMode="External"/><Relationship Id="rId5" Type="http://schemas.openxmlformats.org/officeDocument/2006/relationships/hyperlink" Target="https://www.w3schools.com/java/java_classes.asp"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tutorials.jenkov.com/java/fields.html" TargetMode="External"/><Relationship Id="rId4" Type="http://schemas.openxmlformats.org/officeDocument/2006/relationships/hyperlink" Target="http://tutorials.jenkov.com/java/fields.html" TargetMode="External"/><Relationship Id="rId5" Type="http://schemas.openxmlformats.org/officeDocument/2006/relationships/hyperlink" Target="http://tutorials.jenkov.com/java/methods.html" TargetMode="External"/><Relationship Id="rId6" Type="http://schemas.openxmlformats.org/officeDocument/2006/relationships/hyperlink" Target="http://tutorials.jenkov.com/java/methods.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tutorials.jenkov.com/java/fields.html" TargetMode="External"/><Relationship Id="rId4" Type="http://schemas.openxmlformats.org/officeDocument/2006/relationships/hyperlink" Target="http://tutorials.jenkov.com/java/fields.html" TargetMode="External"/><Relationship Id="rId5" Type="http://schemas.openxmlformats.org/officeDocument/2006/relationships/hyperlink" Target="http://tutorials.jenkov.com/java/methods.html" TargetMode="External"/><Relationship Id="rId6" Type="http://schemas.openxmlformats.org/officeDocument/2006/relationships/hyperlink" Target="http://tutorials.jenkov.com/java/methods.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javatpoint.com/java-program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Java</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Types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lang="en" sz="1250">
                <a:solidFill>
                  <a:srgbClr val="000000"/>
                </a:solidFill>
                <a:highlight>
                  <a:srgbClr val="FFFFFF"/>
                </a:highlight>
              </a:rPr>
              <a:t>Data types are divided into two groups:</a:t>
            </a:r>
            <a:endParaRPr sz="1250">
              <a:solidFill>
                <a:srgbClr val="000000"/>
              </a:solidFill>
              <a:highlight>
                <a:srgbClr val="FFFFFF"/>
              </a:highlight>
            </a:endParaRPr>
          </a:p>
          <a:p>
            <a:pPr indent="-301625" lvl="0" marL="457200" rtl="0" algn="l">
              <a:spcBef>
                <a:spcPts val="1400"/>
              </a:spcBef>
              <a:spcAft>
                <a:spcPts val="0"/>
              </a:spcAft>
              <a:buClr>
                <a:srgbClr val="000000"/>
              </a:buClr>
              <a:buSzPts val="1150"/>
              <a:buFont typeface="Verdana"/>
              <a:buChar char="●"/>
            </a:pPr>
            <a:r>
              <a:rPr lang="en" sz="1250">
                <a:solidFill>
                  <a:srgbClr val="000000"/>
                </a:solidFill>
                <a:highlight>
                  <a:srgbClr val="FFFFFF"/>
                </a:highlight>
              </a:rPr>
              <a:t>Primitive data types - includes </a:t>
            </a:r>
            <a:r>
              <a:rPr lang="en" sz="1300">
                <a:solidFill>
                  <a:srgbClr val="000000"/>
                </a:solidFill>
                <a:highlight>
                  <a:srgbClr val="FFFFFF"/>
                </a:highlight>
              </a:rPr>
              <a:t>byte</a:t>
            </a:r>
            <a:r>
              <a:rPr lang="en" sz="1250">
                <a:solidFill>
                  <a:srgbClr val="000000"/>
                </a:solidFill>
                <a:highlight>
                  <a:srgbClr val="FFFFFF"/>
                </a:highlight>
              </a:rPr>
              <a:t>, </a:t>
            </a:r>
            <a:r>
              <a:rPr lang="en" sz="1300">
                <a:solidFill>
                  <a:srgbClr val="000000"/>
                </a:solidFill>
                <a:highlight>
                  <a:srgbClr val="FFFFFF"/>
                </a:highlight>
              </a:rPr>
              <a:t>short</a:t>
            </a:r>
            <a:r>
              <a:rPr lang="en" sz="1250">
                <a:solidFill>
                  <a:srgbClr val="000000"/>
                </a:solidFill>
                <a:highlight>
                  <a:srgbClr val="FFFFFF"/>
                </a:highlight>
              </a:rPr>
              <a:t>, </a:t>
            </a:r>
            <a:r>
              <a:rPr lang="en" sz="1300">
                <a:solidFill>
                  <a:srgbClr val="000000"/>
                </a:solidFill>
                <a:highlight>
                  <a:srgbClr val="FFFFFF"/>
                </a:highlight>
              </a:rPr>
              <a:t>int</a:t>
            </a:r>
            <a:r>
              <a:rPr lang="en" sz="1250">
                <a:solidFill>
                  <a:srgbClr val="000000"/>
                </a:solidFill>
                <a:highlight>
                  <a:srgbClr val="FFFFFF"/>
                </a:highlight>
              </a:rPr>
              <a:t>, </a:t>
            </a:r>
            <a:r>
              <a:rPr lang="en" sz="1300">
                <a:solidFill>
                  <a:srgbClr val="000000"/>
                </a:solidFill>
                <a:highlight>
                  <a:srgbClr val="FFFFFF"/>
                </a:highlight>
              </a:rPr>
              <a:t>long</a:t>
            </a:r>
            <a:r>
              <a:rPr lang="en" sz="1250">
                <a:solidFill>
                  <a:srgbClr val="000000"/>
                </a:solidFill>
                <a:highlight>
                  <a:srgbClr val="FFFFFF"/>
                </a:highlight>
              </a:rPr>
              <a:t>, </a:t>
            </a:r>
            <a:r>
              <a:rPr lang="en" sz="1300">
                <a:solidFill>
                  <a:srgbClr val="000000"/>
                </a:solidFill>
                <a:highlight>
                  <a:srgbClr val="FFFFFF"/>
                </a:highlight>
              </a:rPr>
              <a:t>float</a:t>
            </a:r>
            <a:r>
              <a:rPr lang="en" sz="1250">
                <a:solidFill>
                  <a:srgbClr val="000000"/>
                </a:solidFill>
                <a:highlight>
                  <a:srgbClr val="FFFFFF"/>
                </a:highlight>
              </a:rPr>
              <a:t>, </a:t>
            </a:r>
            <a:r>
              <a:rPr lang="en" sz="1300">
                <a:solidFill>
                  <a:srgbClr val="000000"/>
                </a:solidFill>
                <a:highlight>
                  <a:srgbClr val="FFFFFF"/>
                </a:highlight>
              </a:rPr>
              <a:t>double</a:t>
            </a:r>
            <a:r>
              <a:rPr lang="en" sz="1250">
                <a:solidFill>
                  <a:srgbClr val="000000"/>
                </a:solidFill>
                <a:highlight>
                  <a:srgbClr val="FFFFFF"/>
                </a:highlight>
              </a:rPr>
              <a:t>, </a:t>
            </a:r>
            <a:r>
              <a:rPr lang="en" sz="1300">
                <a:solidFill>
                  <a:srgbClr val="000000"/>
                </a:solidFill>
                <a:highlight>
                  <a:srgbClr val="FFFFFF"/>
                </a:highlight>
              </a:rPr>
              <a:t>boolean</a:t>
            </a:r>
            <a:r>
              <a:rPr lang="en" sz="1250">
                <a:solidFill>
                  <a:srgbClr val="000000"/>
                </a:solidFill>
                <a:highlight>
                  <a:srgbClr val="FFFFFF"/>
                </a:highlight>
              </a:rPr>
              <a:t> and </a:t>
            </a:r>
            <a:r>
              <a:rPr lang="en" sz="1300">
                <a:solidFill>
                  <a:srgbClr val="000000"/>
                </a:solidFill>
                <a:highlight>
                  <a:srgbClr val="FFFFFF"/>
                </a:highlight>
              </a:rPr>
              <a:t>char</a:t>
            </a:r>
            <a:endParaRPr sz="1300">
              <a:solidFill>
                <a:srgbClr val="000000"/>
              </a:solidFill>
              <a:highlight>
                <a:srgbClr val="FFFFFF"/>
              </a:highlight>
            </a:endParaRPr>
          </a:p>
          <a:p>
            <a:pPr indent="-307975" lvl="0" marL="457200" rtl="0" algn="l">
              <a:spcBef>
                <a:spcPts val="0"/>
              </a:spcBef>
              <a:spcAft>
                <a:spcPts val="0"/>
              </a:spcAft>
              <a:buClr>
                <a:srgbClr val="000000"/>
              </a:buClr>
              <a:buSzPts val="1250"/>
              <a:buFont typeface="Arial"/>
              <a:buChar char="●"/>
            </a:pPr>
            <a:r>
              <a:rPr lang="en" sz="1250">
                <a:solidFill>
                  <a:srgbClr val="000000"/>
                </a:solidFill>
                <a:highlight>
                  <a:srgbClr val="FFFFFF"/>
                </a:highlight>
              </a:rPr>
              <a:t>Non-primitive data types - such as </a:t>
            </a:r>
            <a:r>
              <a:rPr lang="en" sz="1250">
                <a:solidFill>
                  <a:srgbClr val="000000"/>
                </a:solidFill>
                <a:highlight>
                  <a:srgbClr val="FFFFFF"/>
                </a:highlight>
                <a:uFill>
                  <a:noFill/>
                </a:uFill>
                <a:hlinkClick r:id="rId3">
                  <a:extLst>
                    <a:ext uri="{A12FA001-AC4F-418D-AE19-62706E023703}">
                      <ahyp:hlinkClr val="tx"/>
                    </a:ext>
                  </a:extLst>
                </a:hlinkClick>
              </a:rPr>
              <a:t>String</a:t>
            </a:r>
            <a:r>
              <a:rPr lang="en" sz="1250">
                <a:solidFill>
                  <a:srgbClr val="000000"/>
                </a:solidFill>
                <a:highlight>
                  <a:srgbClr val="FFFFFF"/>
                </a:highlight>
              </a:rPr>
              <a:t>, </a:t>
            </a:r>
            <a:r>
              <a:rPr lang="en" sz="1250">
                <a:solidFill>
                  <a:srgbClr val="000000"/>
                </a:solidFill>
                <a:highlight>
                  <a:srgbClr val="FFFFFF"/>
                </a:highlight>
                <a:uFill>
                  <a:noFill/>
                </a:uFill>
                <a:hlinkClick r:id="rId4">
                  <a:extLst>
                    <a:ext uri="{A12FA001-AC4F-418D-AE19-62706E023703}">
                      <ahyp:hlinkClr val="tx"/>
                    </a:ext>
                  </a:extLst>
                </a:hlinkClick>
              </a:rPr>
              <a:t>Arrays</a:t>
            </a:r>
            <a:r>
              <a:rPr lang="en" sz="1250">
                <a:solidFill>
                  <a:srgbClr val="000000"/>
                </a:solidFill>
                <a:highlight>
                  <a:srgbClr val="FFFFFF"/>
                </a:highlight>
              </a:rPr>
              <a:t> and </a:t>
            </a:r>
            <a:r>
              <a:rPr lang="en" sz="1250">
                <a:solidFill>
                  <a:srgbClr val="000000"/>
                </a:solidFill>
                <a:highlight>
                  <a:srgbClr val="FFFFFF"/>
                </a:highlight>
                <a:uFill>
                  <a:noFill/>
                </a:uFill>
                <a:hlinkClick r:id="rId5">
                  <a:extLst>
                    <a:ext uri="{A12FA001-AC4F-418D-AE19-62706E023703}">
                      <ahyp:hlinkClr val="tx"/>
                    </a:ext>
                  </a:extLst>
                </a:hlinkClick>
              </a:rPr>
              <a:t>Classes</a:t>
            </a:r>
            <a:r>
              <a:rPr lang="en" sz="1250">
                <a:solidFill>
                  <a:srgbClr val="000000"/>
                </a:solidFill>
                <a:highlight>
                  <a:srgbClr val="FFFFFF"/>
                </a:highlight>
              </a:rPr>
              <a:t> </a:t>
            </a:r>
            <a:endParaRPr sz="1250">
              <a:solidFill>
                <a:srgbClr val="000000"/>
              </a:solidFill>
              <a:highlight>
                <a:srgbClr val="FFFFFF"/>
              </a:highlight>
            </a:endParaRPr>
          </a:p>
          <a:p>
            <a:pPr indent="0" lvl="0" marL="0" rtl="0" algn="l">
              <a:spcBef>
                <a:spcPts val="1100"/>
              </a:spcBef>
              <a:spcAft>
                <a:spcPts val="1600"/>
              </a:spcAft>
              <a:buNone/>
            </a:pPr>
            <a:r>
              <a:t/>
            </a:r>
            <a:endParaRPr>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2214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VARIABLES IN JAVA</a:t>
            </a:r>
            <a:endParaRPr/>
          </a:p>
        </p:txBody>
      </p:sp>
      <p:sp>
        <p:nvSpPr>
          <p:cNvPr id="67" name="Google Shape;67;p15"/>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highlight>
                  <a:srgbClr val="FFFFFF"/>
                </a:highlight>
              </a:rPr>
              <a:t>A Java variable is a piece of memory that can contain a data value. A variable thus has a data type. </a:t>
            </a:r>
            <a:r>
              <a:rPr lang="en" sz="1100">
                <a:solidFill>
                  <a:schemeClr val="dk1"/>
                </a:solidFill>
                <a:highlight>
                  <a:schemeClr val="lt1"/>
                </a:highlight>
              </a:rPr>
              <a:t>In Java there are four types of variables:</a:t>
            </a:r>
            <a:endParaRPr sz="1100">
              <a:solidFill>
                <a:schemeClr val="dk1"/>
              </a:solidFill>
              <a:highlight>
                <a:schemeClr val="lt1"/>
              </a:highlight>
            </a:endParaRPr>
          </a:p>
          <a:p>
            <a:pPr indent="-298450" lvl="0" marL="457200" rtl="0" algn="l">
              <a:spcBef>
                <a:spcPts val="1600"/>
              </a:spcBef>
              <a:spcAft>
                <a:spcPts val="0"/>
              </a:spcAft>
              <a:buClr>
                <a:schemeClr val="dk1"/>
              </a:buClr>
              <a:buSzPts val="1100"/>
              <a:buChar char="●"/>
            </a:pPr>
            <a:r>
              <a:rPr lang="en" sz="1100">
                <a:solidFill>
                  <a:schemeClr val="dk1"/>
                </a:solidFill>
                <a:highlight>
                  <a:schemeClr val="lt1"/>
                </a:highlight>
              </a:rPr>
              <a:t>Non-static fields</a:t>
            </a:r>
            <a:endParaRPr sz="1100">
              <a:solidFill>
                <a:schemeClr val="dk1"/>
              </a:solidFill>
              <a:highlight>
                <a:schemeClr val="lt1"/>
              </a:highlight>
            </a:endParaRPr>
          </a:p>
          <a:p>
            <a:pPr indent="-298450" lvl="0" marL="457200" rtl="0" algn="l">
              <a:spcBef>
                <a:spcPts val="0"/>
              </a:spcBef>
              <a:spcAft>
                <a:spcPts val="0"/>
              </a:spcAft>
              <a:buClr>
                <a:schemeClr val="dk1"/>
              </a:buClr>
              <a:buSzPts val="1100"/>
              <a:buChar char="●"/>
            </a:pPr>
            <a:r>
              <a:rPr lang="en" sz="1100">
                <a:solidFill>
                  <a:schemeClr val="dk1"/>
                </a:solidFill>
                <a:highlight>
                  <a:schemeClr val="lt1"/>
                </a:highlight>
              </a:rPr>
              <a:t>Static fields</a:t>
            </a:r>
            <a:endParaRPr sz="1100">
              <a:solidFill>
                <a:schemeClr val="dk1"/>
              </a:solidFill>
              <a:highlight>
                <a:schemeClr val="lt1"/>
              </a:highlight>
            </a:endParaRPr>
          </a:p>
          <a:p>
            <a:pPr indent="-298450" lvl="0" marL="457200" rtl="0" algn="l">
              <a:spcBef>
                <a:spcPts val="0"/>
              </a:spcBef>
              <a:spcAft>
                <a:spcPts val="0"/>
              </a:spcAft>
              <a:buClr>
                <a:schemeClr val="dk1"/>
              </a:buClr>
              <a:buSzPts val="1100"/>
              <a:buChar char="●"/>
            </a:pPr>
            <a:r>
              <a:rPr lang="en" sz="1100">
                <a:solidFill>
                  <a:schemeClr val="dk1"/>
                </a:solidFill>
                <a:highlight>
                  <a:schemeClr val="lt1"/>
                </a:highlight>
              </a:rPr>
              <a:t>Local variables</a:t>
            </a:r>
            <a:endParaRPr sz="1100">
              <a:solidFill>
                <a:schemeClr val="dk1"/>
              </a:solidFill>
              <a:highlight>
                <a:schemeClr val="lt1"/>
              </a:highlight>
            </a:endParaRPr>
          </a:p>
          <a:p>
            <a:pPr indent="-298450" lvl="0" marL="457200" rtl="0" algn="l">
              <a:spcBef>
                <a:spcPts val="0"/>
              </a:spcBef>
              <a:spcAft>
                <a:spcPts val="0"/>
              </a:spcAft>
              <a:buClr>
                <a:schemeClr val="dk1"/>
              </a:buClr>
              <a:buSzPts val="1100"/>
              <a:buChar char="●"/>
            </a:pPr>
            <a:r>
              <a:rPr lang="en" sz="1100">
                <a:solidFill>
                  <a:schemeClr val="dk1"/>
                </a:solidFill>
                <a:highlight>
                  <a:schemeClr val="lt1"/>
                </a:highlight>
              </a:rPr>
              <a:t>Parameters</a:t>
            </a:r>
            <a:endParaRPr sz="1100">
              <a:solidFill>
                <a:schemeClr val="dk1"/>
              </a:solidFill>
              <a:highlight>
                <a:schemeClr val="lt1"/>
              </a:highlight>
            </a:endParaRPr>
          </a:p>
          <a:p>
            <a:pPr indent="0" lvl="0" marL="0" rtl="0" algn="l">
              <a:spcBef>
                <a:spcPts val="1200"/>
              </a:spcBef>
              <a:spcAft>
                <a:spcPts val="0"/>
              </a:spcAft>
              <a:buClr>
                <a:schemeClr val="dk1"/>
              </a:buClr>
              <a:buSzPts val="1100"/>
              <a:buFont typeface="Arial"/>
              <a:buNone/>
            </a:pPr>
            <a:r>
              <a:rPr lang="en" sz="1100">
                <a:solidFill>
                  <a:schemeClr val="dk1"/>
                </a:solidFill>
                <a:highlight>
                  <a:schemeClr val="lt1"/>
                </a:highlight>
              </a:rPr>
              <a:t>A non-static field is a variable that belongs to an object. Objects keep their internal state in non-static fields. Non-static fields are also called instance variables, because they belong to instances (objects) of a class. Non-static fields are covered in more detail in the text on </a:t>
            </a:r>
            <a:r>
              <a:rPr b="1" lang="en" sz="1100">
                <a:solidFill>
                  <a:srgbClr val="333399"/>
                </a:solidFill>
                <a:highlight>
                  <a:schemeClr val="lt1"/>
                </a:highlight>
                <a:uFill>
                  <a:noFill/>
                </a:uFill>
                <a:hlinkClick r:id="rId3">
                  <a:extLst>
                    <a:ext uri="{A12FA001-AC4F-418D-AE19-62706E023703}">
                      <ahyp:hlinkClr val="tx"/>
                    </a:ext>
                  </a:extLst>
                </a:hlinkClick>
              </a:rPr>
              <a:t>Java fields</a:t>
            </a:r>
            <a:r>
              <a:rPr lang="en" sz="1100">
                <a:solidFill>
                  <a:schemeClr val="dk1"/>
                </a:solidFill>
                <a:highlight>
                  <a:schemeClr val="lt1"/>
                </a:highlight>
              </a:rPr>
              <a:t>.</a:t>
            </a:r>
            <a:endParaRPr sz="1100">
              <a:solidFill>
                <a:schemeClr val="dk1"/>
              </a:solidFill>
              <a:highlight>
                <a:schemeClr val="lt1"/>
              </a:highlight>
            </a:endParaRPr>
          </a:p>
          <a:p>
            <a:pPr indent="0" lvl="0" marL="0" rtl="0" algn="l">
              <a:spcBef>
                <a:spcPts val="1200"/>
              </a:spcBef>
              <a:spcAft>
                <a:spcPts val="0"/>
              </a:spcAft>
              <a:buClr>
                <a:schemeClr val="dk1"/>
              </a:buClr>
              <a:buSzPts val="1100"/>
              <a:buFont typeface="Arial"/>
              <a:buNone/>
            </a:pPr>
            <a:r>
              <a:rPr lang="en" sz="1100">
                <a:solidFill>
                  <a:schemeClr val="dk1"/>
                </a:solidFill>
                <a:highlight>
                  <a:schemeClr val="lt1"/>
                </a:highlight>
              </a:rPr>
              <a:t>A static field is a variable that belongs to a class. A static field has the same value for all objects that access it. Static fields are also called class variables. Static fields are also covered in more detail in the text on </a:t>
            </a:r>
            <a:r>
              <a:rPr b="1" lang="en" sz="1100">
                <a:solidFill>
                  <a:srgbClr val="333399"/>
                </a:solidFill>
                <a:highlight>
                  <a:schemeClr val="lt1"/>
                </a:highlight>
                <a:uFill>
                  <a:noFill/>
                </a:uFill>
                <a:hlinkClick r:id="rId4">
                  <a:extLst>
                    <a:ext uri="{A12FA001-AC4F-418D-AE19-62706E023703}">
                      <ahyp:hlinkClr val="tx"/>
                    </a:ext>
                  </a:extLst>
                </a:hlinkClick>
              </a:rPr>
              <a:t>Java fields</a:t>
            </a:r>
            <a:r>
              <a:rPr lang="en" sz="1100">
                <a:solidFill>
                  <a:schemeClr val="dk1"/>
                </a:solidFill>
                <a:highlight>
                  <a:schemeClr val="lt1"/>
                </a:highlight>
              </a:rPr>
              <a:t>.</a:t>
            </a:r>
            <a:endParaRPr sz="1100">
              <a:solidFill>
                <a:schemeClr val="dk1"/>
              </a:solidFill>
              <a:highlight>
                <a:schemeClr val="lt1"/>
              </a:highlight>
            </a:endParaRPr>
          </a:p>
          <a:p>
            <a:pPr indent="0" lvl="0" marL="0" rtl="0" algn="l">
              <a:spcBef>
                <a:spcPts val="1200"/>
              </a:spcBef>
              <a:spcAft>
                <a:spcPts val="0"/>
              </a:spcAft>
              <a:buClr>
                <a:schemeClr val="dk1"/>
              </a:buClr>
              <a:buSzPts val="1100"/>
              <a:buFont typeface="Arial"/>
              <a:buNone/>
            </a:pPr>
            <a:r>
              <a:rPr lang="en" sz="1100">
                <a:solidFill>
                  <a:schemeClr val="dk1"/>
                </a:solidFill>
                <a:highlight>
                  <a:schemeClr val="lt1"/>
                </a:highlight>
              </a:rPr>
              <a:t>A local variable is a variable declared inside a method. A local variable is only accessible inside the method that declared it. Local variables are covered in more detail in the text on </a:t>
            </a:r>
            <a:r>
              <a:rPr b="1" lang="en" sz="1100">
                <a:solidFill>
                  <a:srgbClr val="333399"/>
                </a:solidFill>
                <a:highlight>
                  <a:schemeClr val="lt1"/>
                </a:highlight>
                <a:uFill>
                  <a:noFill/>
                </a:uFill>
                <a:hlinkClick r:id="rId5">
                  <a:extLst>
                    <a:ext uri="{A12FA001-AC4F-418D-AE19-62706E023703}">
                      <ahyp:hlinkClr val="tx"/>
                    </a:ext>
                  </a:extLst>
                </a:hlinkClick>
              </a:rPr>
              <a:t>Java methods</a:t>
            </a:r>
            <a:r>
              <a:rPr lang="en" sz="1100">
                <a:solidFill>
                  <a:schemeClr val="dk1"/>
                </a:solidFill>
                <a:highlight>
                  <a:schemeClr val="lt1"/>
                </a:highlight>
              </a:rPr>
              <a:t>.</a:t>
            </a:r>
            <a:endParaRPr sz="1100">
              <a:solidFill>
                <a:schemeClr val="dk1"/>
              </a:solidFill>
              <a:highlight>
                <a:schemeClr val="lt1"/>
              </a:highlight>
            </a:endParaRPr>
          </a:p>
          <a:p>
            <a:pPr indent="0" lvl="0" marL="0" rtl="0" algn="l">
              <a:spcBef>
                <a:spcPts val="1200"/>
              </a:spcBef>
              <a:spcAft>
                <a:spcPts val="1200"/>
              </a:spcAft>
              <a:buClr>
                <a:schemeClr val="dk1"/>
              </a:buClr>
              <a:buSzPts val="1100"/>
              <a:buFont typeface="Arial"/>
              <a:buNone/>
            </a:pPr>
            <a:r>
              <a:rPr lang="en" sz="1100">
                <a:solidFill>
                  <a:schemeClr val="dk1"/>
                </a:solidFill>
                <a:highlight>
                  <a:schemeClr val="lt1"/>
                </a:highlight>
              </a:rPr>
              <a:t>A parameter is a variable that is passed to a method when the method is called. Parameters are also only accessible inside the method that declares them, although a value is assigned to them when the method is called. Parameters are also covered in more detail in the text on </a:t>
            </a:r>
            <a:r>
              <a:rPr b="1" lang="en" sz="1100">
                <a:solidFill>
                  <a:srgbClr val="333399"/>
                </a:solidFill>
                <a:highlight>
                  <a:schemeClr val="lt1"/>
                </a:highlight>
                <a:uFill>
                  <a:noFill/>
                </a:uFill>
                <a:hlinkClick r:id="rId6">
                  <a:extLst>
                    <a:ext uri="{A12FA001-AC4F-418D-AE19-62706E023703}">
                      <ahyp:hlinkClr val="tx"/>
                    </a:ext>
                  </a:extLst>
                </a:hlinkClick>
              </a:rPr>
              <a:t>Java methods</a:t>
            </a:r>
            <a:r>
              <a:rPr lang="en" sz="1100">
                <a:solidFill>
                  <a:schemeClr val="dk1"/>
                </a:solidFill>
                <a:highlight>
                  <a:schemeClr val="lt1"/>
                </a:highlight>
              </a:rPr>
              <a:t>.</a:t>
            </a:r>
            <a:endParaRPr sz="1100">
              <a:solidFill>
                <a:schemeClr val="dk1"/>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VARIABLE TYPES</a:t>
            </a:r>
            <a:endParaRPr/>
          </a:p>
        </p:txBody>
      </p:sp>
      <p:sp>
        <p:nvSpPr>
          <p:cNvPr id="73" name="Google Shape;73;p16"/>
          <p:cNvSpPr txBox="1"/>
          <p:nvPr>
            <p:ph idx="1" type="body"/>
          </p:nvPr>
        </p:nvSpPr>
        <p:spPr>
          <a:xfrm>
            <a:off x="311700" y="1152475"/>
            <a:ext cx="8520600" cy="339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100">
                <a:solidFill>
                  <a:schemeClr val="dk1"/>
                </a:solidFill>
                <a:highlight>
                  <a:srgbClr val="FFFFFF"/>
                </a:highlight>
              </a:rPr>
              <a:t>In Java there are four types of variables:</a:t>
            </a:r>
            <a:endParaRPr sz="1100">
              <a:solidFill>
                <a:schemeClr val="dk1"/>
              </a:solidFill>
              <a:highlight>
                <a:srgbClr val="FFFFFF"/>
              </a:highlight>
            </a:endParaRPr>
          </a:p>
          <a:p>
            <a:pPr indent="-298450" lvl="0" marL="457200" rtl="0" algn="l">
              <a:spcBef>
                <a:spcPts val="1200"/>
              </a:spcBef>
              <a:spcAft>
                <a:spcPts val="0"/>
              </a:spcAft>
              <a:buClr>
                <a:schemeClr val="dk1"/>
              </a:buClr>
              <a:buSzPts val="1100"/>
              <a:buChar char="●"/>
            </a:pPr>
            <a:r>
              <a:rPr lang="en" sz="1100">
                <a:solidFill>
                  <a:schemeClr val="dk1"/>
                </a:solidFill>
                <a:highlight>
                  <a:srgbClr val="FFFFFF"/>
                </a:highlight>
              </a:rPr>
              <a:t>Non-static fields</a:t>
            </a:r>
            <a:endParaRPr sz="1100">
              <a:solidFill>
                <a:schemeClr val="dk1"/>
              </a:solidFill>
              <a:highlight>
                <a:srgbClr val="FFFFFF"/>
              </a:highlight>
            </a:endParaRPr>
          </a:p>
          <a:p>
            <a:pPr indent="-298450" lvl="0" marL="457200" rtl="0" algn="l">
              <a:spcBef>
                <a:spcPts val="0"/>
              </a:spcBef>
              <a:spcAft>
                <a:spcPts val="0"/>
              </a:spcAft>
              <a:buClr>
                <a:schemeClr val="dk1"/>
              </a:buClr>
              <a:buSzPts val="1100"/>
              <a:buChar char="●"/>
            </a:pPr>
            <a:r>
              <a:rPr lang="en" sz="1100">
                <a:solidFill>
                  <a:schemeClr val="dk1"/>
                </a:solidFill>
                <a:highlight>
                  <a:srgbClr val="FFFFFF"/>
                </a:highlight>
              </a:rPr>
              <a:t>Static fields</a:t>
            </a:r>
            <a:endParaRPr sz="1100">
              <a:solidFill>
                <a:schemeClr val="dk1"/>
              </a:solidFill>
              <a:highlight>
                <a:srgbClr val="FFFFFF"/>
              </a:highlight>
            </a:endParaRPr>
          </a:p>
          <a:p>
            <a:pPr indent="-298450" lvl="0" marL="457200" rtl="0" algn="l">
              <a:spcBef>
                <a:spcPts val="0"/>
              </a:spcBef>
              <a:spcAft>
                <a:spcPts val="0"/>
              </a:spcAft>
              <a:buClr>
                <a:schemeClr val="dk1"/>
              </a:buClr>
              <a:buSzPts val="1100"/>
              <a:buChar char="●"/>
            </a:pPr>
            <a:r>
              <a:rPr lang="en" sz="1100">
                <a:solidFill>
                  <a:schemeClr val="dk1"/>
                </a:solidFill>
                <a:highlight>
                  <a:srgbClr val="FFFFFF"/>
                </a:highlight>
              </a:rPr>
              <a:t>Local variables</a:t>
            </a:r>
            <a:endParaRPr sz="1100">
              <a:solidFill>
                <a:schemeClr val="dk1"/>
              </a:solidFill>
              <a:highlight>
                <a:srgbClr val="FFFFFF"/>
              </a:highlight>
            </a:endParaRPr>
          </a:p>
          <a:p>
            <a:pPr indent="-298450" lvl="0" marL="457200" rtl="0" algn="l">
              <a:spcBef>
                <a:spcPts val="0"/>
              </a:spcBef>
              <a:spcAft>
                <a:spcPts val="0"/>
              </a:spcAft>
              <a:buClr>
                <a:schemeClr val="dk1"/>
              </a:buClr>
              <a:buSzPts val="1100"/>
              <a:buChar char="●"/>
            </a:pPr>
            <a:r>
              <a:rPr lang="en" sz="1100">
                <a:solidFill>
                  <a:schemeClr val="dk1"/>
                </a:solidFill>
                <a:highlight>
                  <a:srgbClr val="FFFFFF"/>
                </a:highlight>
              </a:rPr>
              <a:t>Parameters</a:t>
            </a:r>
            <a:endParaRPr sz="1100">
              <a:solidFill>
                <a:schemeClr val="dk1"/>
              </a:solidFill>
              <a:highlight>
                <a:srgbClr val="FFFFFF"/>
              </a:highlight>
            </a:endParaRPr>
          </a:p>
          <a:p>
            <a:pPr indent="0" lvl="0" marL="0" rtl="0" algn="l">
              <a:spcBef>
                <a:spcPts val="1200"/>
              </a:spcBef>
              <a:spcAft>
                <a:spcPts val="0"/>
              </a:spcAft>
              <a:buClr>
                <a:schemeClr val="dk1"/>
              </a:buClr>
              <a:buSzPts val="1100"/>
              <a:buFont typeface="Arial"/>
              <a:buNone/>
            </a:pPr>
            <a:r>
              <a:rPr lang="en" sz="1100">
                <a:solidFill>
                  <a:schemeClr val="dk1"/>
                </a:solidFill>
                <a:highlight>
                  <a:srgbClr val="FFFFFF"/>
                </a:highlight>
              </a:rPr>
              <a:t>A non-static field is a variable that belongs to an object. Objects keep their internal state in non-static fields. Non-static fields are also called instance variables, because they belong to instances (objects) of a class. Non-static fields are covered in more detail in the text on </a:t>
            </a:r>
            <a:r>
              <a:rPr b="1" lang="en" sz="1100">
                <a:solidFill>
                  <a:srgbClr val="333399"/>
                </a:solidFill>
                <a:highlight>
                  <a:srgbClr val="FFFFFF"/>
                </a:highlight>
                <a:uFill>
                  <a:noFill/>
                </a:uFill>
                <a:hlinkClick r:id="rId3">
                  <a:extLst>
                    <a:ext uri="{A12FA001-AC4F-418D-AE19-62706E023703}">
                      <ahyp:hlinkClr val="tx"/>
                    </a:ext>
                  </a:extLst>
                </a:hlinkClick>
              </a:rPr>
              <a:t>Java fields</a:t>
            </a:r>
            <a:r>
              <a:rPr lang="en" sz="1100">
                <a:solidFill>
                  <a:schemeClr val="dk1"/>
                </a:solidFill>
                <a:highlight>
                  <a:srgbClr val="FFFFFF"/>
                </a:highlight>
              </a:rPr>
              <a:t>.</a:t>
            </a:r>
            <a:endParaRPr sz="1100">
              <a:solidFill>
                <a:schemeClr val="dk1"/>
              </a:solidFill>
              <a:highlight>
                <a:srgbClr val="FFFFFF"/>
              </a:highlight>
            </a:endParaRPr>
          </a:p>
          <a:p>
            <a:pPr indent="0" lvl="0" marL="0" rtl="0" algn="l">
              <a:spcBef>
                <a:spcPts val="1200"/>
              </a:spcBef>
              <a:spcAft>
                <a:spcPts val="0"/>
              </a:spcAft>
              <a:buClr>
                <a:schemeClr val="dk1"/>
              </a:buClr>
              <a:buSzPts val="1100"/>
              <a:buFont typeface="Arial"/>
              <a:buNone/>
            </a:pPr>
            <a:r>
              <a:rPr lang="en" sz="1100">
                <a:solidFill>
                  <a:schemeClr val="dk1"/>
                </a:solidFill>
                <a:highlight>
                  <a:srgbClr val="FFFFFF"/>
                </a:highlight>
              </a:rPr>
              <a:t>A static field is a variable that belongs to a class. A static field has the same value for all objects that access it. Static fields are also called class variables. Static fields are also covered in more detail in the text on </a:t>
            </a:r>
            <a:r>
              <a:rPr b="1" lang="en" sz="1100">
                <a:solidFill>
                  <a:srgbClr val="333399"/>
                </a:solidFill>
                <a:highlight>
                  <a:srgbClr val="FFFFFF"/>
                </a:highlight>
                <a:uFill>
                  <a:noFill/>
                </a:uFill>
                <a:hlinkClick r:id="rId4">
                  <a:extLst>
                    <a:ext uri="{A12FA001-AC4F-418D-AE19-62706E023703}">
                      <ahyp:hlinkClr val="tx"/>
                    </a:ext>
                  </a:extLst>
                </a:hlinkClick>
              </a:rPr>
              <a:t>Java fields</a:t>
            </a:r>
            <a:r>
              <a:rPr lang="en" sz="1100">
                <a:solidFill>
                  <a:schemeClr val="dk1"/>
                </a:solidFill>
                <a:highlight>
                  <a:srgbClr val="FFFFFF"/>
                </a:highlight>
              </a:rPr>
              <a:t>.</a:t>
            </a:r>
            <a:endParaRPr sz="1100">
              <a:solidFill>
                <a:schemeClr val="dk1"/>
              </a:solidFill>
              <a:highlight>
                <a:srgbClr val="FFFFFF"/>
              </a:highlight>
            </a:endParaRPr>
          </a:p>
          <a:p>
            <a:pPr indent="0" lvl="0" marL="0" rtl="0" algn="l">
              <a:spcBef>
                <a:spcPts val="1200"/>
              </a:spcBef>
              <a:spcAft>
                <a:spcPts val="0"/>
              </a:spcAft>
              <a:buClr>
                <a:schemeClr val="dk1"/>
              </a:buClr>
              <a:buSzPts val="1100"/>
              <a:buFont typeface="Arial"/>
              <a:buNone/>
            </a:pPr>
            <a:r>
              <a:rPr lang="en" sz="1100">
                <a:solidFill>
                  <a:schemeClr val="dk1"/>
                </a:solidFill>
                <a:highlight>
                  <a:srgbClr val="FFFFFF"/>
                </a:highlight>
              </a:rPr>
              <a:t>A local variable is a variable declared inside a method. A local variable is only accessible inside the method that declared it. Local variables are covered in more detail in the text on </a:t>
            </a:r>
            <a:r>
              <a:rPr b="1" lang="en" sz="1100">
                <a:solidFill>
                  <a:srgbClr val="333399"/>
                </a:solidFill>
                <a:highlight>
                  <a:srgbClr val="FFFFFF"/>
                </a:highlight>
                <a:uFill>
                  <a:noFill/>
                </a:uFill>
                <a:hlinkClick r:id="rId5">
                  <a:extLst>
                    <a:ext uri="{A12FA001-AC4F-418D-AE19-62706E023703}">
                      <ahyp:hlinkClr val="tx"/>
                    </a:ext>
                  </a:extLst>
                </a:hlinkClick>
              </a:rPr>
              <a:t>Java methods</a:t>
            </a:r>
            <a:r>
              <a:rPr lang="en" sz="1100">
                <a:solidFill>
                  <a:schemeClr val="dk1"/>
                </a:solidFill>
                <a:highlight>
                  <a:srgbClr val="FFFFFF"/>
                </a:highlight>
              </a:rPr>
              <a:t>.</a:t>
            </a:r>
            <a:endParaRPr sz="1100">
              <a:solidFill>
                <a:schemeClr val="dk1"/>
              </a:solidFill>
              <a:highlight>
                <a:srgbClr val="FFFFFF"/>
              </a:highlight>
            </a:endParaRPr>
          </a:p>
          <a:p>
            <a:pPr indent="0" lvl="0" marL="0" rtl="0" algn="l">
              <a:spcBef>
                <a:spcPts val="1200"/>
              </a:spcBef>
              <a:spcAft>
                <a:spcPts val="0"/>
              </a:spcAft>
              <a:buClr>
                <a:schemeClr val="dk1"/>
              </a:buClr>
              <a:buSzPts val="1100"/>
              <a:buFont typeface="Arial"/>
              <a:buNone/>
            </a:pPr>
            <a:r>
              <a:rPr lang="en" sz="1100">
                <a:solidFill>
                  <a:schemeClr val="dk1"/>
                </a:solidFill>
                <a:highlight>
                  <a:srgbClr val="FFFFFF"/>
                </a:highlight>
              </a:rPr>
              <a:t>A parameter is a variable that is passed to a method when the method is called. Parameters are also only accessible inside the method that declares them, although a value is assigned to them when the method is called. Parameters are also covered in more detail in the text on </a:t>
            </a:r>
            <a:r>
              <a:rPr b="1" lang="en" sz="1100">
                <a:solidFill>
                  <a:srgbClr val="333399"/>
                </a:solidFill>
                <a:highlight>
                  <a:srgbClr val="FFFFFF"/>
                </a:highlight>
                <a:uFill>
                  <a:noFill/>
                </a:uFill>
                <a:hlinkClick r:id="rId6">
                  <a:extLst>
                    <a:ext uri="{A12FA001-AC4F-418D-AE19-62706E023703}">
                      <ahyp:hlinkClr val="tx"/>
                    </a:ext>
                  </a:extLst>
                </a:hlinkClick>
              </a:rPr>
              <a:t>Java methods</a:t>
            </a:r>
            <a:r>
              <a:rPr lang="en" sz="1100">
                <a:solidFill>
                  <a:schemeClr val="dk1"/>
                </a:solidFill>
                <a:highlight>
                  <a:srgbClr val="FFFFFF"/>
                </a:highlight>
              </a:rPr>
              <a:t>.</a:t>
            </a:r>
            <a:endParaRPr sz="1100">
              <a:solidFill>
                <a:schemeClr val="dk1"/>
              </a:solidFill>
              <a:highlight>
                <a:srgbClr val="FFFFFF"/>
              </a:highlight>
            </a:endParaRPr>
          </a:p>
          <a:p>
            <a:pPr indent="0" lvl="0" marL="0" rtl="0" algn="l">
              <a:spcBef>
                <a:spcPts val="12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JDK VS JRE VS JVM</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2300"/>
              </a:spcBef>
              <a:spcAft>
                <a:spcPts val="0"/>
              </a:spcAft>
              <a:buClr>
                <a:schemeClr val="dk1"/>
              </a:buClr>
              <a:buSzPts val="1100"/>
              <a:buFont typeface="Arial"/>
              <a:buNone/>
            </a:pPr>
            <a:r>
              <a:rPr b="1" lang="en" sz="1300">
                <a:solidFill>
                  <a:srgbClr val="000000"/>
                </a:solidFill>
                <a:highlight>
                  <a:srgbClr val="FFFFFF"/>
                </a:highlight>
              </a:rPr>
              <a:t>1. JDK</a:t>
            </a:r>
            <a:endParaRPr b="1" sz="1300">
              <a:solidFill>
                <a:srgbClr val="000000"/>
              </a:solidFill>
              <a:highlight>
                <a:srgbClr val="FFFFFF"/>
              </a:highlight>
            </a:endParaRPr>
          </a:p>
          <a:p>
            <a:pPr indent="0" lvl="0" marL="0" rtl="0" algn="l">
              <a:lnSpc>
                <a:spcPct val="163636"/>
              </a:lnSpc>
              <a:spcBef>
                <a:spcPts val="1800"/>
              </a:spcBef>
              <a:spcAft>
                <a:spcPts val="0"/>
              </a:spcAft>
              <a:buClr>
                <a:schemeClr val="dk1"/>
              </a:buClr>
              <a:buSzPts val="1100"/>
              <a:buFont typeface="Arial"/>
              <a:buNone/>
            </a:pPr>
            <a:r>
              <a:rPr lang="en" sz="1100">
                <a:solidFill>
                  <a:srgbClr val="000000"/>
                </a:solidFill>
                <a:highlight>
                  <a:srgbClr val="FFFFFF"/>
                </a:highlight>
                <a:latin typeface="Roboto"/>
                <a:ea typeface="Roboto"/>
                <a:cs typeface="Roboto"/>
                <a:sym typeface="Roboto"/>
              </a:rPr>
              <a:t>Java Development Kit aka JDK is the core component of Java Environment and provides all the tools, executables, and binaries required to compile, debug, and execute a Java Program.</a:t>
            </a:r>
            <a:endParaRPr sz="1100">
              <a:solidFill>
                <a:srgbClr val="000000"/>
              </a:solidFill>
              <a:highlight>
                <a:srgbClr val="FFFFFF"/>
              </a:highlight>
              <a:latin typeface="Roboto"/>
              <a:ea typeface="Roboto"/>
              <a:cs typeface="Roboto"/>
              <a:sym typeface="Roboto"/>
            </a:endParaRPr>
          </a:p>
          <a:p>
            <a:pPr indent="0" lvl="0" marL="0" rtl="0" algn="l">
              <a:lnSpc>
                <a:spcPct val="163636"/>
              </a:lnSpc>
              <a:spcBef>
                <a:spcPts val="1800"/>
              </a:spcBef>
              <a:spcAft>
                <a:spcPts val="0"/>
              </a:spcAft>
              <a:buClr>
                <a:schemeClr val="dk1"/>
              </a:buClr>
              <a:buSzPts val="1100"/>
              <a:buFont typeface="Arial"/>
              <a:buNone/>
            </a:pPr>
            <a:r>
              <a:rPr lang="en" sz="1100">
                <a:solidFill>
                  <a:srgbClr val="000000"/>
                </a:solidFill>
                <a:highlight>
                  <a:srgbClr val="FFFFFF"/>
                </a:highlight>
                <a:latin typeface="Roboto"/>
                <a:ea typeface="Roboto"/>
                <a:cs typeface="Roboto"/>
                <a:sym typeface="Roboto"/>
              </a:rPr>
              <a:t>JDK is a platform-specific software and that’s why we have separate installers for Windows, Mac, and Unix systems.</a:t>
            </a:r>
            <a:endParaRPr sz="1100">
              <a:solidFill>
                <a:srgbClr val="000000"/>
              </a:solidFill>
              <a:highlight>
                <a:srgbClr val="FFFFFF"/>
              </a:highlight>
              <a:latin typeface="Roboto"/>
              <a:ea typeface="Roboto"/>
              <a:cs typeface="Roboto"/>
              <a:sym typeface="Roboto"/>
            </a:endParaRPr>
          </a:p>
          <a:p>
            <a:pPr indent="0" lvl="0" marL="0" rtl="0" algn="l">
              <a:lnSpc>
                <a:spcPct val="163636"/>
              </a:lnSpc>
              <a:spcBef>
                <a:spcPts val="1800"/>
              </a:spcBef>
              <a:spcAft>
                <a:spcPts val="0"/>
              </a:spcAft>
              <a:buClr>
                <a:schemeClr val="dk1"/>
              </a:buClr>
              <a:buSzPts val="1100"/>
              <a:buFont typeface="Arial"/>
              <a:buNone/>
            </a:pPr>
            <a:r>
              <a:rPr lang="en" sz="1100">
                <a:solidFill>
                  <a:srgbClr val="000000"/>
                </a:solidFill>
                <a:highlight>
                  <a:srgbClr val="FFFFFF"/>
                </a:highlight>
                <a:latin typeface="Roboto"/>
                <a:ea typeface="Roboto"/>
                <a:cs typeface="Roboto"/>
                <a:sym typeface="Roboto"/>
              </a:rPr>
              <a:t>We can say that JDK is the superset of JRE since it contains JRE with Java compiler, debugger, and core classes.</a:t>
            </a:r>
            <a:endParaRPr sz="1100">
              <a:solidFill>
                <a:srgbClr val="000000"/>
              </a:solidFill>
              <a:highlight>
                <a:srgbClr val="FFFFFF"/>
              </a:highlight>
              <a:latin typeface="Roboto"/>
              <a:ea typeface="Roboto"/>
              <a:cs typeface="Roboto"/>
              <a:sym typeface="Roboto"/>
            </a:endParaRPr>
          </a:p>
          <a:p>
            <a:pPr indent="0" lvl="0" marL="0" rtl="0" algn="l">
              <a:spcBef>
                <a:spcPts val="2300"/>
              </a:spcBef>
              <a:spcAft>
                <a:spcPts val="1500"/>
              </a:spcAft>
              <a:buNone/>
            </a:pPr>
            <a:r>
              <a:t/>
            </a:r>
            <a:endParaRPr>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JVM</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63636"/>
              </a:lnSpc>
              <a:spcBef>
                <a:spcPts val="18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JVM is the heart of Java programming language. When we execute a Java program, JVM is responsible for converting the byte code to the machine-specific code.</a:t>
            </a:r>
            <a:endParaRPr sz="1100">
              <a:solidFill>
                <a:schemeClr val="dk1"/>
              </a:solidFill>
              <a:highlight>
                <a:srgbClr val="FFFFFF"/>
              </a:highlight>
              <a:latin typeface="Roboto"/>
              <a:ea typeface="Roboto"/>
              <a:cs typeface="Roboto"/>
              <a:sym typeface="Roboto"/>
            </a:endParaRPr>
          </a:p>
          <a:p>
            <a:pPr indent="0" lvl="0" marL="0" rtl="0" algn="l">
              <a:lnSpc>
                <a:spcPct val="163636"/>
              </a:lnSpc>
              <a:spcBef>
                <a:spcPts val="18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JVM is also platform-dependent and provides core java functions such as memory management, garbage collection, security, etc.</a:t>
            </a:r>
            <a:endParaRPr sz="1100">
              <a:solidFill>
                <a:schemeClr val="dk1"/>
              </a:solidFill>
              <a:highlight>
                <a:srgbClr val="FFFFFF"/>
              </a:highlight>
              <a:latin typeface="Roboto"/>
              <a:ea typeface="Roboto"/>
              <a:cs typeface="Roboto"/>
              <a:sym typeface="Roboto"/>
            </a:endParaRPr>
          </a:p>
          <a:p>
            <a:pPr indent="0" lvl="0" marL="0" rtl="0" algn="l">
              <a:lnSpc>
                <a:spcPct val="163636"/>
              </a:lnSpc>
              <a:spcBef>
                <a:spcPts val="18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JVM is customizable and we can use java options to customize it. For example, allocating minimum and maximum memory to JVM.</a:t>
            </a:r>
            <a:endParaRPr sz="1100">
              <a:solidFill>
                <a:schemeClr val="dk1"/>
              </a:solidFill>
              <a:highlight>
                <a:srgbClr val="FFFFFF"/>
              </a:highlight>
              <a:latin typeface="Roboto"/>
              <a:ea typeface="Roboto"/>
              <a:cs typeface="Roboto"/>
              <a:sym typeface="Roboto"/>
            </a:endParaRPr>
          </a:p>
          <a:p>
            <a:pPr indent="0" lvl="0" marL="0" rtl="0" algn="l">
              <a:lnSpc>
                <a:spcPct val="163636"/>
              </a:lnSpc>
              <a:spcBef>
                <a:spcPts val="18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JVM is called </a:t>
            </a:r>
            <a:r>
              <a:rPr b="1" lang="en" sz="1100">
                <a:solidFill>
                  <a:schemeClr val="dk1"/>
                </a:solidFill>
                <a:highlight>
                  <a:srgbClr val="FFFFFF"/>
                </a:highlight>
                <a:latin typeface="Roboto"/>
                <a:ea typeface="Roboto"/>
                <a:cs typeface="Roboto"/>
                <a:sym typeface="Roboto"/>
              </a:rPr>
              <a:t>virtual</a:t>
            </a:r>
            <a:r>
              <a:rPr lang="en" sz="1100">
                <a:solidFill>
                  <a:schemeClr val="dk1"/>
                </a:solidFill>
                <a:highlight>
                  <a:srgbClr val="FFFFFF"/>
                </a:highlight>
                <a:latin typeface="Roboto"/>
                <a:ea typeface="Roboto"/>
                <a:cs typeface="Roboto"/>
                <a:sym typeface="Roboto"/>
              </a:rPr>
              <a:t> because it provides an interface that does not depend on the underlying operating system and machine hardware.</a:t>
            </a:r>
            <a:endParaRPr sz="1100">
              <a:solidFill>
                <a:schemeClr val="dk1"/>
              </a:solidFill>
              <a:highlight>
                <a:srgbClr val="FFFFFF"/>
              </a:highlight>
              <a:latin typeface="Roboto"/>
              <a:ea typeface="Roboto"/>
              <a:cs typeface="Roboto"/>
              <a:sym typeface="Roboto"/>
            </a:endParaRPr>
          </a:p>
          <a:p>
            <a:pPr indent="0" lvl="0" marL="0" rtl="0" algn="l">
              <a:lnSpc>
                <a:spcPct val="163636"/>
              </a:lnSpc>
              <a:spcBef>
                <a:spcPts val="18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This independence from hardware and the operating system makes java program write-once-run-anywhere.</a:t>
            </a:r>
            <a:endParaRPr sz="1100">
              <a:solidFill>
                <a:schemeClr val="dk1"/>
              </a:solidFill>
              <a:highlight>
                <a:srgbClr val="FFFFFF"/>
              </a:highlight>
              <a:latin typeface="Roboto"/>
              <a:ea typeface="Roboto"/>
              <a:cs typeface="Roboto"/>
              <a:sym typeface="Roboto"/>
            </a:endParaRPr>
          </a:p>
          <a:p>
            <a:pPr indent="0" lvl="0" marL="0" rtl="0" algn="l">
              <a:spcBef>
                <a:spcPts val="18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JRE</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63636"/>
              </a:lnSpc>
              <a:spcBef>
                <a:spcPts val="18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JRE is the implementation of JVM. It provides a platform to execute java programs. JRE consists of JVM, Java binaries, and other classes to execute any program successfully.</a:t>
            </a:r>
            <a:endParaRPr sz="1100">
              <a:solidFill>
                <a:schemeClr val="dk1"/>
              </a:solidFill>
              <a:highlight>
                <a:srgbClr val="FFFFFF"/>
              </a:highlight>
              <a:latin typeface="Roboto"/>
              <a:ea typeface="Roboto"/>
              <a:cs typeface="Roboto"/>
              <a:sym typeface="Roboto"/>
            </a:endParaRPr>
          </a:p>
          <a:p>
            <a:pPr indent="0" lvl="0" marL="0" rtl="0" algn="l">
              <a:lnSpc>
                <a:spcPct val="163636"/>
              </a:lnSpc>
              <a:spcBef>
                <a:spcPts val="18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JRE doesn’t contain any development tools such as Java compiler, debugger, JShell, etc.</a:t>
            </a:r>
            <a:endParaRPr sz="1100">
              <a:solidFill>
                <a:schemeClr val="dk1"/>
              </a:solidFill>
              <a:highlight>
                <a:srgbClr val="FFFFFF"/>
              </a:highlight>
              <a:latin typeface="Roboto"/>
              <a:ea typeface="Roboto"/>
              <a:cs typeface="Roboto"/>
              <a:sym typeface="Roboto"/>
            </a:endParaRPr>
          </a:p>
          <a:p>
            <a:pPr indent="0" lvl="0" marL="0" rtl="0" algn="l">
              <a:lnSpc>
                <a:spcPct val="163636"/>
              </a:lnSpc>
              <a:spcBef>
                <a:spcPts val="18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If you just want to execute a java program, you can install only JRE. You don’t need JDK because there is no development or compilation of java source code is required.</a:t>
            </a:r>
            <a:endParaRPr sz="1100">
              <a:solidFill>
                <a:schemeClr val="dk1"/>
              </a:solidFill>
              <a:highlight>
                <a:srgbClr val="FFFFFF"/>
              </a:highlight>
              <a:latin typeface="Roboto"/>
              <a:ea typeface="Roboto"/>
              <a:cs typeface="Roboto"/>
              <a:sym typeface="Roboto"/>
            </a:endParaRPr>
          </a:p>
          <a:p>
            <a:pPr indent="0" lvl="0" marL="0" rtl="0" algn="l">
              <a:lnSpc>
                <a:spcPct val="163636"/>
              </a:lnSpc>
              <a:spcBef>
                <a:spcPts val="18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Now that we have a basic understanding of JDK, JVM, and JRE, let’s look into the difference between them.</a:t>
            </a:r>
            <a:endParaRPr sz="1100">
              <a:solidFill>
                <a:schemeClr val="dk1"/>
              </a:solidFill>
              <a:highlight>
                <a:srgbClr val="FFFFFF"/>
              </a:highlight>
              <a:latin typeface="Roboto"/>
              <a:ea typeface="Roboto"/>
              <a:cs typeface="Roboto"/>
              <a:sym typeface="Roboto"/>
            </a:endParaRPr>
          </a:p>
          <a:p>
            <a:pPr indent="0" lvl="0" marL="0" rtl="0" algn="l">
              <a:spcBef>
                <a:spcPts val="18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63636"/>
              </a:lnSpc>
              <a:spcBef>
                <a:spcPts val="1800"/>
              </a:spcBef>
              <a:spcAft>
                <a:spcPts val="0"/>
              </a:spcAft>
              <a:buClr>
                <a:schemeClr val="dk1"/>
              </a:buClr>
              <a:buSzPts val="1100"/>
              <a:buFont typeface="Arial"/>
              <a:buNone/>
            </a:pPr>
            <a:r>
              <a:rPr lang="en" sz="1100">
                <a:solidFill>
                  <a:schemeClr val="dk1"/>
                </a:solidFill>
                <a:highlight>
                  <a:srgbClr val="FFFFFF"/>
                </a:highlight>
                <a:latin typeface="Roboto"/>
                <a:ea typeface="Roboto"/>
                <a:cs typeface="Roboto"/>
                <a:sym typeface="Roboto"/>
              </a:rPr>
              <a:t>Let’s look at some of the important differences between JDK, JRE, and JVM.</a:t>
            </a:r>
            <a:endParaRPr sz="1100">
              <a:solidFill>
                <a:schemeClr val="dk1"/>
              </a:solidFill>
              <a:highlight>
                <a:srgbClr val="FFFFFF"/>
              </a:highlight>
              <a:latin typeface="Roboto"/>
              <a:ea typeface="Roboto"/>
              <a:cs typeface="Roboto"/>
              <a:sym typeface="Roboto"/>
            </a:endParaRPr>
          </a:p>
          <a:p>
            <a:pPr indent="-298450" lvl="0" marL="457200" rtl="0" algn="l">
              <a:spcBef>
                <a:spcPts val="1800"/>
              </a:spcBef>
              <a:spcAft>
                <a:spcPts val="0"/>
              </a:spcAft>
              <a:buClr>
                <a:schemeClr val="dk1"/>
              </a:buClr>
              <a:buSzPts val="1100"/>
              <a:buFont typeface="Roboto"/>
              <a:buAutoNum type="arabicPeriod"/>
            </a:pPr>
            <a:r>
              <a:rPr lang="en" sz="1100">
                <a:solidFill>
                  <a:schemeClr val="dk1"/>
                </a:solidFill>
                <a:highlight>
                  <a:srgbClr val="FFFFFF"/>
                </a:highlight>
                <a:latin typeface="Roboto"/>
                <a:ea typeface="Roboto"/>
                <a:cs typeface="Roboto"/>
                <a:sym typeface="Roboto"/>
              </a:rPr>
              <a:t>JDK is for development purpose whereas JRE is for running the java programs.</a:t>
            </a:r>
            <a:endParaRPr sz="1100">
              <a:solidFill>
                <a:schemeClr val="dk1"/>
              </a:solidFill>
              <a:highlight>
                <a:srgbClr val="FFFFFF"/>
              </a:highlight>
              <a:latin typeface="Roboto"/>
              <a:ea typeface="Roboto"/>
              <a:cs typeface="Roboto"/>
              <a:sym typeface="Roboto"/>
            </a:endParaRPr>
          </a:p>
          <a:p>
            <a:pPr indent="-298450" lvl="0" marL="457200" rtl="0" algn="l">
              <a:spcBef>
                <a:spcPts val="0"/>
              </a:spcBef>
              <a:spcAft>
                <a:spcPts val="0"/>
              </a:spcAft>
              <a:buClr>
                <a:schemeClr val="dk1"/>
              </a:buClr>
              <a:buSzPts val="1100"/>
              <a:buFont typeface="Roboto"/>
              <a:buAutoNum type="arabicPeriod"/>
            </a:pPr>
            <a:r>
              <a:rPr lang="en" sz="1100">
                <a:solidFill>
                  <a:schemeClr val="dk1"/>
                </a:solidFill>
                <a:highlight>
                  <a:srgbClr val="FFFFFF"/>
                </a:highlight>
                <a:latin typeface="Roboto"/>
                <a:ea typeface="Roboto"/>
                <a:cs typeface="Roboto"/>
                <a:sym typeface="Roboto"/>
              </a:rPr>
              <a:t>JDK and JRE both contains JVM so that we can run our java program.</a:t>
            </a:r>
            <a:endParaRPr sz="1100">
              <a:solidFill>
                <a:schemeClr val="dk1"/>
              </a:solidFill>
              <a:highlight>
                <a:srgbClr val="FFFFFF"/>
              </a:highlight>
              <a:latin typeface="Roboto"/>
              <a:ea typeface="Roboto"/>
              <a:cs typeface="Roboto"/>
              <a:sym typeface="Roboto"/>
            </a:endParaRPr>
          </a:p>
          <a:p>
            <a:pPr indent="-298450" lvl="0" marL="457200" rtl="0" algn="l">
              <a:spcBef>
                <a:spcPts val="0"/>
              </a:spcBef>
              <a:spcAft>
                <a:spcPts val="0"/>
              </a:spcAft>
              <a:buClr>
                <a:schemeClr val="dk1"/>
              </a:buClr>
              <a:buSzPts val="1100"/>
              <a:buFont typeface="Roboto"/>
              <a:buAutoNum type="arabicPeriod"/>
            </a:pPr>
            <a:r>
              <a:rPr lang="en" sz="1100">
                <a:solidFill>
                  <a:schemeClr val="dk1"/>
                </a:solidFill>
                <a:highlight>
                  <a:srgbClr val="FFFFFF"/>
                </a:highlight>
                <a:latin typeface="Roboto"/>
                <a:ea typeface="Roboto"/>
                <a:cs typeface="Roboto"/>
                <a:sym typeface="Roboto"/>
              </a:rPr>
              <a:t>JVM is the heart of java programming language and provides platform independence.</a:t>
            </a:r>
            <a:endParaRPr sz="1100">
              <a:solidFill>
                <a:schemeClr val="dk1"/>
              </a:solidFill>
              <a:highlight>
                <a:srgbClr val="FFFFFF"/>
              </a:highlight>
              <a:latin typeface="Roboto"/>
              <a:ea typeface="Roboto"/>
              <a:cs typeface="Roboto"/>
              <a:sym typeface="Roboto"/>
            </a:endParaRPr>
          </a:p>
          <a:p>
            <a:pPr indent="0" lvl="0" marL="0" rtl="0" algn="l">
              <a:spcBef>
                <a:spcPts val="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Loops</a:t>
            </a:r>
            <a:endParaRPr/>
          </a:p>
        </p:txBody>
      </p:sp>
      <p:sp>
        <p:nvSpPr>
          <p:cNvPr id="102" name="Google Shape;102;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rgbClr val="000000"/>
                </a:solidFill>
              </a:rPr>
              <a:t>FOR Loop</a:t>
            </a:r>
            <a:endParaRPr b="1" sz="800">
              <a:solidFill>
                <a:srgbClr val="000000"/>
              </a:solidFill>
            </a:endParaRPr>
          </a:p>
          <a:p>
            <a:pPr indent="0" lvl="0" marL="0" rtl="0" algn="l">
              <a:spcBef>
                <a:spcPts val="1600"/>
              </a:spcBef>
              <a:spcAft>
                <a:spcPts val="0"/>
              </a:spcAft>
              <a:buNone/>
            </a:pPr>
            <a:r>
              <a:rPr lang="en" sz="800">
                <a:solidFill>
                  <a:srgbClr val="000000"/>
                </a:solidFill>
              </a:rPr>
              <a:t>The Java for loop is a control flow statement that iterates a part of the </a:t>
            </a:r>
            <a:r>
              <a:rPr lang="en" sz="800">
                <a:solidFill>
                  <a:srgbClr val="000000"/>
                </a:solidFill>
                <a:uFill>
                  <a:noFill/>
                </a:uFill>
                <a:hlinkClick r:id="rId3">
                  <a:extLst>
                    <a:ext uri="{A12FA001-AC4F-418D-AE19-62706E023703}">
                      <ahyp:hlinkClr val="tx"/>
                    </a:ext>
                  </a:extLst>
                </a:hlinkClick>
              </a:rPr>
              <a:t>programs</a:t>
            </a:r>
            <a:r>
              <a:rPr lang="en" sz="800">
                <a:solidFill>
                  <a:srgbClr val="000000"/>
                </a:solidFill>
              </a:rPr>
              <a:t> multiple times.</a:t>
            </a:r>
            <a:endParaRPr sz="800">
              <a:solidFill>
                <a:srgbClr val="000000"/>
              </a:solidFill>
            </a:endParaRPr>
          </a:p>
          <a:p>
            <a:pPr indent="0" lvl="0" marL="0" rtl="0" algn="l">
              <a:spcBef>
                <a:spcPts val="1600"/>
              </a:spcBef>
              <a:spcAft>
                <a:spcPts val="0"/>
              </a:spcAft>
              <a:buNone/>
            </a:pPr>
            <a:r>
              <a:rPr b="1" lang="en" sz="800">
                <a:solidFill>
                  <a:srgbClr val="000000"/>
                </a:solidFill>
              </a:rPr>
              <a:t>WHEN TO USE FOR LOOP</a:t>
            </a:r>
            <a:endParaRPr b="1" sz="800">
              <a:solidFill>
                <a:srgbClr val="000000"/>
              </a:solidFill>
            </a:endParaRPr>
          </a:p>
          <a:p>
            <a:pPr indent="0" lvl="0" marL="0" rtl="0" algn="l">
              <a:spcBef>
                <a:spcPts val="1600"/>
              </a:spcBef>
              <a:spcAft>
                <a:spcPts val="0"/>
              </a:spcAft>
              <a:buNone/>
            </a:pPr>
            <a:r>
              <a:rPr lang="en" sz="800">
                <a:solidFill>
                  <a:srgbClr val="000000"/>
                </a:solidFill>
              </a:rPr>
              <a:t>If the number of iteration is fixed, it is recommended to use for loop.</a:t>
            </a:r>
            <a:endParaRPr sz="800">
              <a:solidFill>
                <a:srgbClr val="000000"/>
              </a:solidFill>
            </a:endParaRPr>
          </a:p>
          <a:p>
            <a:pPr indent="0" lvl="0" marL="0" rtl="0" algn="l">
              <a:spcBef>
                <a:spcPts val="1600"/>
              </a:spcBef>
              <a:spcAft>
                <a:spcPts val="0"/>
              </a:spcAft>
              <a:buNone/>
            </a:pPr>
            <a:r>
              <a:rPr b="1" lang="en" sz="800">
                <a:solidFill>
                  <a:srgbClr val="000000"/>
                </a:solidFill>
              </a:rPr>
              <a:t>SYNTAX:</a:t>
            </a:r>
            <a:endParaRPr b="1" sz="800">
              <a:solidFill>
                <a:srgbClr val="000000"/>
              </a:solidFill>
            </a:endParaRPr>
          </a:p>
          <a:p>
            <a:pPr indent="0" lvl="0" marL="0" rtl="0" algn="l">
              <a:spcBef>
                <a:spcPts val="1600"/>
              </a:spcBef>
              <a:spcAft>
                <a:spcPts val="0"/>
              </a:spcAft>
              <a:buNone/>
            </a:pPr>
            <a:r>
              <a:rPr lang="en" sz="800">
                <a:solidFill>
                  <a:srgbClr val="000000"/>
                </a:solidFill>
              </a:rPr>
              <a:t>for(init;condition;incr/decr){  </a:t>
            </a:r>
            <a:endParaRPr sz="800">
              <a:solidFill>
                <a:srgbClr val="000000"/>
              </a:solidFill>
            </a:endParaRPr>
          </a:p>
          <a:p>
            <a:pPr indent="0" lvl="0" marL="0" rtl="0" algn="l">
              <a:spcBef>
                <a:spcPts val="1600"/>
              </a:spcBef>
              <a:spcAft>
                <a:spcPts val="0"/>
              </a:spcAft>
              <a:buNone/>
            </a:pPr>
            <a:r>
              <a:rPr lang="en" sz="800">
                <a:solidFill>
                  <a:srgbClr val="000000"/>
                </a:solidFill>
              </a:rPr>
              <a:t>// code to be executed </a:t>
            </a:r>
            <a:endParaRPr sz="800">
              <a:solidFill>
                <a:srgbClr val="000000"/>
              </a:solidFill>
            </a:endParaRPr>
          </a:p>
          <a:p>
            <a:pPr indent="0" lvl="0" marL="0" rtl="0" algn="l">
              <a:spcBef>
                <a:spcPts val="1600"/>
              </a:spcBef>
              <a:spcAft>
                <a:spcPts val="0"/>
              </a:spcAft>
              <a:buClr>
                <a:schemeClr val="dk1"/>
              </a:buClr>
              <a:buSzPts val="1100"/>
              <a:buFont typeface="Arial"/>
              <a:buNone/>
            </a:pPr>
            <a:r>
              <a:rPr lang="en" sz="800">
                <a:solidFill>
                  <a:srgbClr val="000000"/>
                </a:solidFill>
              </a:rPr>
              <a:t>}</a:t>
            </a:r>
            <a:endParaRPr sz="800">
              <a:solidFill>
                <a:srgbClr val="000000"/>
              </a:solidFill>
            </a:endParaRPr>
          </a:p>
          <a:p>
            <a:pPr indent="0" lvl="0" marL="0" rtl="0" algn="l">
              <a:spcBef>
                <a:spcPts val="1600"/>
              </a:spcBef>
              <a:spcAft>
                <a:spcPts val="1600"/>
              </a:spcAft>
              <a:buNone/>
            </a:pPr>
            <a:r>
              <a:t/>
            </a:r>
            <a:endParaRPr sz="1000">
              <a:solidFill>
                <a:schemeClr val="dk1"/>
              </a:solidFill>
              <a:highlight>
                <a:srgbClr val="EFF1EB"/>
              </a:highlight>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idx="1" type="body"/>
          </p:nvPr>
        </p:nvSpPr>
        <p:spPr>
          <a:xfrm>
            <a:off x="311700" y="506900"/>
            <a:ext cx="8520600" cy="406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a:t>
            </a:r>
            <a:endParaRPr/>
          </a:p>
          <a:p>
            <a:pPr indent="0" lvl="0" marL="0" rtl="0" algn="l">
              <a:spcBef>
                <a:spcPts val="1600"/>
              </a:spcBef>
              <a:spcAft>
                <a:spcPts val="0"/>
              </a:spcAft>
              <a:buNone/>
            </a:pPr>
            <a:r>
              <a:rPr lang="en" sz="1000">
                <a:solidFill>
                  <a:schemeClr val="dk1"/>
                </a:solidFill>
                <a:highlight>
                  <a:srgbClr val="FFFFFF"/>
                </a:highlight>
                <a:latin typeface="Verdana"/>
                <a:ea typeface="Verdana"/>
                <a:cs typeface="Verdana"/>
                <a:sym typeface="Verdana"/>
              </a:rPr>
              <a:t>The Java while loop is a control flow statement that executes a part of the programs repeatedly on the basis of given boolean condition.</a:t>
            </a:r>
            <a:endParaRPr sz="1000">
              <a:solidFill>
                <a:schemeClr val="dk1"/>
              </a:solidFill>
              <a:highlight>
                <a:srgbClr val="FFFFFF"/>
              </a:highlight>
              <a:latin typeface="Verdana"/>
              <a:ea typeface="Verdana"/>
              <a:cs typeface="Verdana"/>
              <a:sym typeface="Verdana"/>
            </a:endParaRPr>
          </a:p>
          <a:p>
            <a:pPr indent="0" lvl="0" marL="0" rtl="0" algn="l">
              <a:spcBef>
                <a:spcPts val="1600"/>
              </a:spcBef>
              <a:spcAft>
                <a:spcPts val="0"/>
              </a:spcAft>
              <a:buNone/>
            </a:pPr>
            <a:r>
              <a:rPr b="1" lang="en" sz="1000">
                <a:solidFill>
                  <a:schemeClr val="dk1"/>
                </a:solidFill>
                <a:highlight>
                  <a:srgbClr val="FFFFFF"/>
                </a:highlight>
                <a:latin typeface="Verdana"/>
                <a:ea typeface="Verdana"/>
                <a:cs typeface="Verdana"/>
                <a:sym typeface="Verdana"/>
              </a:rPr>
              <a:t>WHEN TO USE WHILE LOOP</a:t>
            </a:r>
            <a:endParaRPr b="1" sz="1000">
              <a:solidFill>
                <a:srgbClr val="000000"/>
              </a:solidFill>
              <a:highlight>
                <a:srgbClr val="FFFFFF"/>
              </a:highlight>
              <a:latin typeface="Verdana"/>
              <a:ea typeface="Verdana"/>
              <a:cs typeface="Verdana"/>
              <a:sym typeface="Verdana"/>
            </a:endParaRPr>
          </a:p>
          <a:p>
            <a:pPr indent="0" lvl="0" marL="0" rtl="0" algn="l">
              <a:spcBef>
                <a:spcPts val="1600"/>
              </a:spcBef>
              <a:spcAft>
                <a:spcPts val="0"/>
              </a:spcAft>
              <a:buNone/>
            </a:pPr>
            <a:r>
              <a:rPr lang="en" sz="1000">
                <a:solidFill>
                  <a:srgbClr val="000000"/>
                </a:solidFill>
                <a:highlight>
                  <a:srgbClr val="FFFFFF"/>
                </a:highlight>
                <a:latin typeface="Verdana"/>
                <a:ea typeface="Verdana"/>
                <a:cs typeface="Verdana"/>
                <a:sym typeface="Verdana"/>
              </a:rPr>
              <a:t>If the number of iteration is not fixed, it is recommended to use while loop.</a:t>
            </a:r>
            <a:endParaRPr sz="1000">
              <a:solidFill>
                <a:srgbClr val="000000"/>
              </a:solidFill>
              <a:highlight>
                <a:srgbClr val="FFFFFF"/>
              </a:highlight>
              <a:latin typeface="Verdana"/>
              <a:ea typeface="Verdana"/>
              <a:cs typeface="Verdana"/>
              <a:sym typeface="Verdana"/>
            </a:endParaRPr>
          </a:p>
          <a:p>
            <a:pPr indent="0" lvl="0" marL="0" rtl="0" algn="l">
              <a:spcBef>
                <a:spcPts val="1600"/>
              </a:spcBef>
              <a:spcAft>
                <a:spcPts val="0"/>
              </a:spcAft>
              <a:buNone/>
            </a:pPr>
            <a:r>
              <a:rPr b="1" lang="en" sz="1000">
                <a:solidFill>
                  <a:srgbClr val="000000"/>
                </a:solidFill>
                <a:highlight>
                  <a:srgbClr val="FFFFFF"/>
                </a:highlight>
                <a:latin typeface="Verdana"/>
                <a:ea typeface="Verdana"/>
                <a:cs typeface="Verdana"/>
                <a:sym typeface="Verdana"/>
              </a:rPr>
              <a:t>SYNTAX</a:t>
            </a:r>
            <a:endParaRPr b="1" sz="1000">
              <a:solidFill>
                <a:srgbClr val="000000"/>
              </a:solidFill>
              <a:highlight>
                <a:srgbClr val="FFFFFF"/>
              </a:highlight>
              <a:latin typeface="Verdana"/>
              <a:ea typeface="Verdana"/>
              <a:cs typeface="Verdana"/>
              <a:sym typeface="Verdana"/>
            </a:endParaRPr>
          </a:p>
          <a:p>
            <a:pPr indent="0" lvl="0" marL="0" rtl="0" algn="l">
              <a:spcBef>
                <a:spcPts val="1600"/>
              </a:spcBef>
              <a:spcAft>
                <a:spcPts val="0"/>
              </a:spcAft>
              <a:buNone/>
            </a:pPr>
            <a:r>
              <a:rPr lang="en" sz="1000">
                <a:solidFill>
                  <a:schemeClr val="dk1"/>
                </a:solidFill>
                <a:highlight>
                  <a:srgbClr val="FFFFFF"/>
                </a:highlight>
              </a:rPr>
              <a:t>while(condition){  </a:t>
            </a:r>
            <a:endParaRPr sz="1000">
              <a:solidFill>
                <a:schemeClr val="dk1"/>
              </a:solidFill>
              <a:highlight>
                <a:srgbClr val="FFFFFF"/>
              </a:highlight>
            </a:endParaRPr>
          </a:p>
          <a:p>
            <a:pPr indent="0" lvl="0" marL="0" rtl="0" algn="l">
              <a:spcBef>
                <a:spcPts val="1600"/>
              </a:spcBef>
              <a:spcAft>
                <a:spcPts val="0"/>
              </a:spcAft>
              <a:buNone/>
            </a:pPr>
            <a:r>
              <a:rPr lang="en" sz="1000">
                <a:solidFill>
                  <a:schemeClr val="dk1"/>
                </a:solidFill>
                <a:highlight>
                  <a:srgbClr val="FFFFFF"/>
                </a:highlight>
              </a:rPr>
              <a:t>//code to be executed </a:t>
            </a:r>
            <a:endParaRPr sz="10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lang="en" sz="1000">
                <a:solidFill>
                  <a:schemeClr val="dk1"/>
                </a:solidFill>
                <a:highlight>
                  <a:srgbClr val="FFFFFF"/>
                </a:highlight>
              </a:rPr>
              <a:t>}</a:t>
            </a:r>
            <a:endParaRPr sz="1000">
              <a:solidFill>
                <a:schemeClr val="dk1"/>
              </a:solidFill>
              <a:highlight>
                <a:srgbClr val="FFFFFF"/>
              </a:highlight>
            </a:endParaRPr>
          </a:p>
          <a:p>
            <a:pPr indent="0" lvl="0" marL="0" rtl="0" algn="l">
              <a:spcBef>
                <a:spcPts val="1600"/>
              </a:spcBef>
              <a:spcAft>
                <a:spcPts val="1600"/>
              </a:spcAft>
              <a:buNone/>
            </a:pPr>
            <a:r>
              <a:t/>
            </a:r>
            <a:endParaRPr b="1" sz="1000">
              <a:solidFill>
                <a:srgbClr val="000000"/>
              </a:solidFill>
              <a:highlight>
                <a:srgbClr val="FFFFFF"/>
              </a:highlight>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idx="1" type="body"/>
          </p:nvPr>
        </p:nvSpPr>
        <p:spPr>
          <a:xfrm>
            <a:off x="311700" y="849800"/>
            <a:ext cx="8520600" cy="371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DO-WHILE</a:t>
            </a:r>
            <a:endParaRPr/>
          </a:p>
          <a:p>
            <a:pPr indent="0" lvl="0" marL="0" rtl="0" algn="l">
              <a:spcBef>
                <a:spcPts val="1600"/>
              </a:spcBef>
              <a:spcAft>
                <a:spcPts val="0"/>
              </a:spcAft>
              <a:buNone/>
            </a:pPr>
            <a:r>
              <a:rPr lang="en" sz="1000">
                <a:solidFill>
                  <a:schemeClr val="dk1"/>
                </a:solidFill>
                <a:highlight>
                  <a:srgbClr val="FFFFFF"/>
                </a:highlight>
                <a:latin typeface="Verdana"/>
                <a:ea typeface="Verdana"/>
                <a:cs typeface="Verdana"/>
                <a:sym typeface="Verdana"/>
              </a:rPr>
              <a:t>The Java do while loop is a control flow statement that executes a part of the programs at least once and the further execution depends upon the given boolean condition.</a:t>
            </a:r>
            <a:endParaRPr sz="1000">
              <a:solidFill>
                <a:schemeClr val="dk1"/>
              </a:solidFill>
              <a:highlight>
                <a:srgbClr val="FFFFFF"/>
              </a:highlight>
              <a:latin typeface="Verdana"/>
              <a:ea typeface="Verdana"/>
              <a:cs typeface="Verdana"/>
              <a:sym typeface="Verdana"/>
            </a:endParaRPr>
          </a:p>
          <a:p>
            <a:pPr indent="0" lvl="0" marL="0" rtl="0" algn="l">
              <a:spcBef>
                <a:spcPts val="1600"/>
              </a:spcBef>
              <a:spcAft>
                <a:spcPts val="0"/>
              </a:spcAft>
              <a:buNone/>
            </a:pPr>
            <a:r>
              <a:rPr b="1" lang="en" sz="1000">
                <a:solidFill>
                  <a:schemeClr val="dk1"/>
                </a:solidFill>
                <a:highlight>
                  <a:srgbClr val="FFFFFF"/>
                </a:highlight>
              </a:rPr>
              <a:t>WHEN TO USE DO WHILE</a:t>
            </a:r>
            <a:endParaRPr b="1" sz="1000">
              <a:solidFill>
                <a:schemeClr val="dk1"/>
              </a:solidFill>
              <a:highlight>
                <a:srgbClr val="FFFFFF"/>
              </a:highlight>
            </a:endParaRPr>
          </a:p>
          <a:p>
            <a:pPr indent="0" lvl="0" marL="0" rtl="0" algn="l">
              <a:spcBef>
                <a:spcPts val="1600"/>
              </a:spcBef>
              <a:spcAft>
                <a:spcPts val="0"/>
              </a:spcAft>
              <a:buNone/>
            </a:pPr>
            <a:r>
              <a:rPr lang="en" sz="1000">
                <a:solidFill>
                  <a:schemeClr val="dk1"/>
                </a:solidFill>
                <a:highlight>
                  <a:srgbClr val="FFFFFF"/>
                </a:highlight>
              </a:rPr>
              <a:t>If the number of iteration is not fixed and you must have to execute the loop at least once, it is recommended to use the do-while loop.</a:t>
            </a:r>
            <a:endParaRPr sz="1000">
              <a:solidFill>
                <a:schemeClr val="dk1"/>
              </a:solidFill>
              <a:highlight>
                <a:srgbClr val="FFFFFF"/>
              </a:highlight>
            </a:endParaRPr>
          </a:p>
          <a:p>
            <a:pPr indent="0" lvl="0" marL="0" rtl="0" algn="l">
              <a:spcBef>
                <a:spcPts val="1600"/>
              </a:spcBef>
              <a:spcAft>
                <a:spcPts val="0"/>
              </a:spcAft>
              <a:buNone/>
            </a:pPr>
            <a:r>
              <a:rPr b="1" lang="en" sz="1000">
                <a:solidFill>
                  <a:schemeClr val="dk1"/>
                </a:solidFill>
                <a:highlight>
                  <a:srgbClr val="FFFFFF"/>
                </a:highlight>
              </a:rPr>
              <a:t>SYNTAX</a:t>
            </a:r>
            <a:endParaRPr b="1" sz="1000">
              <a:solidFill>
                <a:schemeClr val="dk1"/>
              </a:solidFill>
              <a:highlight>
                <a:srgbClr val="FFFFFF"/>
              </a:highlight>
            </a:endParaRPr>
          </a:p>
          <a:p>
            <a:pPr indent="0" lvl="0" marL="0" rtl="0" algn="l">
              <a:spcBef>
                <a:spcPts val="1600"/>
              </a:spcBef>
              <a:spcAft>
                <a:spcPts val="0"/>
              </a:spcAft>
              <a:buNone/>
            </a:pPr>
            <a:r>
              <a:rPr lang="en" sz="1000">
                <a:solidFill>
                  <a:schemeClr val="dk1"/>
                </a:solidFill>
                <a:highlight>
                  <a:srgbClr val="FFFFFF"/>
                </a:highlight>
              </a:rPr>
              <a:t>do{  </a:t>
            </a:r>
            <a:endParaRPr sz="1000">
              <a:solidFill>
                <a:schemeClr val="dk1"/>
              </a:solidFill>
              <a:highlight>
                <a:srgbClr val="FFFFFF"/>
              </a:highlight>
            </a:endParaRPr>
          </a:p>
          <a:p>
            <a:pPr indent="0" lvl="0" marL="0" rtl="0" algn="l">
              <a:spcBef>
                <a:spcPts val="1600"/>
              </a:spcBef>
              <a:spcAft>
                <a:spcPts val="0"/>
              </a:spcAft>
              <a:buNone/>
            </a:pPr>
            <a:r>
              <a:rPr lang="en" sz="1000">
                <a:solidFill>
                  <a:schemeClr val="dk1"/>
                </a:solidFill>
                <a:highlight>
                  <a:srgbClr val="FFFFFF"/>
                </a:highlight>
              </a:rPr>
              <a:t>//code to be executed  </a:t>
            </a:r>
            <a:endParaRPr sz="10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lang="en" sz="1000">
                <a:solidFill>
                  <a:schemeClr val="dk1"/>
                </a:solidFill>
                <a:highlight>
                  <a:srgbClr val="FFFFFF"/>
                </a:highlight>
              </a:rPr>
              <a:t>}while(condition);</a:t>
            </a:r>
            <a:endParaRPr sz="1000">
              <a:solidFill>
                <a:schemeClr val="dk1"/>
              </a:solidFill>
              <a:highlight>
                <a:srgbClr val="FFFFFF"/>
              </a:highlight>
            </a:endParaRPr>
          </a:p>
          <a:p>
            <a:pPr indent="0" lvl="0" marL="0" rtl="0" algn="l">
              <a:spcBef>
                <a:spcPts val="1600"/>
              </a:spcBef>
              <a:spcAft>
                <a:spcPts val="1600"/>
              </a:spcAft>
              <a:buNone/>
            </a:pPr>
            <a:r>
              <a:t/>
            </a:r>
            <a:endParaRPr sz="1000">
              <a:solidFill>
                <a:schemeClr val="dk1"/>
              </a:solidFill>
              <a:highlight>
                <a:srgbClr val="EFF1EB"/>
              </a:highlight>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